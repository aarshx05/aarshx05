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Readings (thousands)</c:v>
                </c:pt>
              </c:strCache>
            </c:strRef>
          </c:tx>
          <c:spPr>
            <a:solidFill>
              <a:srgbClr val="B9C3F3"/>
            </a:solidFill>
          </c:spPr>
          <c:dPt>
            <c:idx val="2"/>
            <c:spPr>
              <a:solidFill>
                <a:srgbClr val="2E4BD8"/>
              </a:solidFill>
            </c:spPr>
          </c:dPt>
          <c:cat>
            <c:strRef>
              <c:f>Sheet1!$A$2:$A$4</c:f>
              <c:strCache>
                <c:ptCount val="3"/>
                <c:pt idx="0">
                  <c:v>Jul</c:v>
                </c:pt>
                <c:pt idx="1">
                  <c:v>Aug</c:v>
                </c:pt>
                <c:pt idx="2">
                  <c:v>Sep</c:v>
                </c:pt>
              </c:strCache>
            </c:strRef>
          </c:cat>
          <c:val>
            <c:numRef>
              <c:f>Sheet1!$B$2:$B$4</c:f>
              <c:numCache>
                <c:formatCode>#,##0"k"</c:formatCode>
                <c:ptCount val="3"/>
                <c:pt idx="0">
                  <c:v>120</c:v>
                </c:pt>
                <c:pt idx="1">
                  <c:v>190</c:v>
                </c:pt>
                <c:pt idx="2">
                  <c:v>290</c:v>
                </c:pt>
              </c:numCache>
            </c:numRef>
          </c:val>
        </c:ser>
        <c:dLbls>
          <c:numFmt formatCode="#,##0&quot;k&quot;" sourceLinked="0"/>
          <c:txPr>
            <a:bodyPr/>
            <a:lstStyle/>
            <a:p>
              <a:pPr>
                <a:defRPr sz="16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5E5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&quot;k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650">
          <a:solidFill>
            <a:srgbClr val="14213D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deck. The company and every number are fictional.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 number for the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September is the record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numbers, all fictional.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Sites by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Six, seven and seven sites take the network from 41 to 61.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rand name"/>
          <p:cNvSpPr txBox="1"/>
          <p:nvPr/>
        </p:nvSpPr>
        <p:spPr>
          <a:xfrm>
            <a:off x="609600" y="600075"/>
            <a:ext cx="3810000" cy="3143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kern="0" dirty="0" spc="16">
                <a:solidFill>
                  <a:schemeClr val="lt1"/>
                </a:solidFill>
                <a:latin typeface="+mj-lt"/>
                <a:cs typeface="Inter"/>
              </a:rPr>
              <a:t>Northstar Demo</a:t>
            </a:r>
            <a:endParaRPr lang="en-US" sz="1650" b="1" i="0" kern="0" dirty="0" spc="16">
              <a:solidFill>
                <a:schemeClr val="lt1"/>
              </a:solidFill>
              <a:latin typeface="+mj-lt"/>
              <a:cs typeface="Inter"/>
            </a:endParaRPr>
          </a:p>
        </p:txBody>
      </p:sp>
      <p:sp>
        <p:nvSpPr>
          <p:cNvPr id="3" name="Accent bar"/>
          <p:cNvSpPr/>
          <p:nvPr/>
        </p:nvSpPr>
        <p:spPr>
          <a:xfrm>
            <a:off x="609600" y="2133600"/>
            <a:ext cx="6096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571500" y="2438400"/>
            <a:ext cx="8572500" cy="914400"/>
          </a:xfrm>
          <a:prstGeom prst="rect">
            <a:avLst/>
          </a:prstGeom>
          <a:noFill/>
        </p:spPr>
        <p:txBody>
          <a:bodyPr wrap="none" lIns="0" tIns="66675" rIns="0" bIns="0" anchor="t" rtlCol="0">
            <a:noAutofit/>
          </a:bodyPr>
          <a:lstStyle/>
          <a:p>
            <a:pPr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kern="0" dirty="0" spc="-198">
                <a:solidFill>
                  <a:schemeClr val="lt1"/>
                </a:solidFill>
                <a:latin typeface="Inter ExtraBold"/>
                <a:cs typeface="Inter ExtraBold"/>
              </a:rPr>
              <a:t>Q3 field update</a:t>
            </a:r>
            <a:endParaRPr lang="en-US" sz="6600" b="0" i="0" kern="0" dirty="0" spc="-198">
              <a:solidFill>
                <a:schemeClr val="lt1"/>
              </a:solidFill>
              <a:latin typeface="Inter ExtraBold"/>
              <a:cs typeface="Inter ExtraBold"/>
            </a:endParaRPr>
          </a:p>
        </p:txBody>
      </p:sp>
      <p:sp>
        <p:nvSpPr>
          <p:cNvPr id="5" name="Subtitle"/>
          <p:cNvSpPr txBox="1"/>
          <p:nvPr/>
        </p:nvSpPr>
        <p:spPr>
          <a:xfrm>
            <a:off x="609600" y="3581400"/>
            <a:ext cx="7116175" cy="7620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kern="0" dirty="0">
                <a:solidFill>
                  <a:srgbClr val="BDC1C9"/>
                </a:solidFill>
                <a:latin typeface="+mj-lt"/>
                <a:cs typeface="Inter"/>
              </a:rPr>
              <a:t>A synthetic deck for a review-regression pilot. Every number in it is fictional.</a:t>
            </a:r>
            <a:endParaRPr lang="en-US" sz="2100" b="0" i="0" kern="0" dirty="0">
              <a:solidFill>
                <a:srgbClr val="BDC1C9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tatement"/>
          <p:cNvSpPr txBox="1"/>
          <p:nvPr/>
        </p:nvSpPr>
        <p:spPr>
          <a:xfrm>
            <a:off x="609600" y="2209800"/>
            <a:ext cx="8610600" cy="1219200"/>
          </a:xfrm>
          <a:prstGeom prst="rect">
            <a:avLst/>
          </a:prstGeom>
          <a:noFill/>
        </p:spPr>
        <p:txBody>
          <a:bodyPr wrap="square" lIns="0" tIns="38100" rIns="0" bIns="0" anchor="t" rtlCol="0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  <a:t>Sensor uptime held above 99%</a:t>
            </a:r>
            <a:b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</a:br>
            <a: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  <a:t>all quarter</a:t>
            </a:r>
            <a:endParaRPr lang="en-US" sz="4200" b="0" i="0" kern="0" dirty="0" spc="-84">
              <a:solidFill>
                <a:schemeClr val="dk1"/>
              </a:solidFill>
              <a:latin typeface="Inter ExtraBold"/>
              <a:cs typeface="Inter ExtraBold"/>
            </a:endParaRPr>
          </a:p>
        </p:txBody>
      </p:sp>
      <p:sp>
        <p:nvSpPr>
          <p:cNvPr id="3" name="Support"/>
          <p:cNvSpPr txBox="1"/>
          <p:nvPr/>
        </p:nvSpPr>
        <p:spPr>
          <a:xfrm>
            <a:off x="609600" y="3733800"/>
            <a:ext cx="7239000" cy="381000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kern="0" dirty="0">
                <a:solidFill>
                  <a:srgbClr val="697183"/>
                </a:solidFill>
                <a:latin typeface="+mj-lt"/>
                <a:cs typeface="Inter"/>
              </a:rPr>
              <a:t>Across all 41 sites, from July to September.</a:t>
            </a:r>
            <a:endParaRPr lang="en-US" sz="2100" b="0" i="0" kern="0" dirty="0">
              <a:solidFill>
                <a:srgbClr val="697183"/>
              </a:solidFill>
              <a:latin typeface="+mj-lt"/>
              <a:cs typeface="Inter"/>
            </a:endParaRPr>
          </a:p>
        </p:txBody>
      </p:sp>
      <p:sp>
        <p:nvSpPr>
          <p:cNvPr id="4" name="Brand name"/>
          <p:cNvSpPr txBox="1"/>
          <p:nvPr/>
        </p:nvSpPr>
        <p:spPr>
          <a:xfrm>
            <a:off x="609600" y="6086475"/>
            <a:ext cx="3810000" cy="2381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kern="0" dirty="0" spc="14">
                <a:solidFill>
                  <a:schemeClr val="accent1"/>
                </a:solidFill>
                <a:latin typeface="+mj-lt"/>
                <a:cs typeface="Inter"/>
              </a:rPr>
              <a:t>Northstar Demo</a:t>
            </a:r>
            <a:endParaRPr lang="en-US" sz="1350" b="1" i="0" kern="0" dirty="0" spc="14">
              <a:solidFill>
                <a:schemeClr val="accent1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1066800"/>
            <a:ext cx="8801100" cy="990600"/>
          </a:xfrm>
          <a:prstGeom prst="rect">
            <a:avLst/>
          </a:prstGeom>
          <a:noFill/>
        </p:spPr>
        <p:txBody>
          <a:bodyPr wrap="square" lIns="0" tIns="28575" rIns="0" bIns="0" anchor="t" rtlCol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Inter"/>
              </a:rPr>
              <a:t>Monthly readings grew 2.4× from July to September</a:t>
            </a:r>
            <a:endParaRPr lang="en-US" sz="3300" b="1" i="0" kern="0" dirty="0" spc="-50">
              <a:solidFill>
                <a:schemeClr val="dk1"/>
              </a:solidFill>
              <a:latin typeface="+mj-lt"/>
              <a:cs typeface="Inter"/>
            </a:endParaRPr>
          </a:p>
        </p:txBody>
      </p:sp>
      <p:graphicFrame>
        <p:nvGraphicFramePr>
          <p:cNvPr id="3" name="Chart – monthly readings"/>
          <p:cNvGraphicFramePr>
            <a:graphicFrameLocks noGrp="1"/>
          </p:cNvGraphicFramePr>
          <p:nvPr/>
        </p:nvGraphicFramePr>
        <p:xfrm>
          <a:off x="609600" y="1981200"/>
          <a:ext cx="73152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Brand name"/>
          <p:cNvSpPr txBox="1"/>
          <p:nvPr/>
        </p:nvSpPr>
        <p:spPr>
          <a:xfrm>
            <a:off x="609600" y="6086475"/>
            <a:ext cx="3810000" cy="2381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kern="0" dirty="0" spc="14">
                <a:solidFill>
                  <a:schemeClr val="accent1"/>
                </a:solidFill>
                <a:latin typeface="+mj-lt"/>
                <a:cs typeface="Inter"/>
              </a:rPr>
              <a:t>Northstar Demo</a:t>
            </a:r>
            <a:endParaRPr lang="en-US" sz="1350" b="1" i="0" kern="0" dirty="0" spc="14">
              <a:solidFill>
                <a:schemeClr val="accent1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1066800"/>
            <a:ext cx="8343900" cy="990600"/>
          </a:xfrm>
          <a:prstGeom prst="rect">
            <a:avLst/>
          </a:prstGeom>
          <a:noFill/>
        </p:spPr>
        <p:txBody>
          <a:bodyPr wrap="square" lIns="0" tIns="28575" rIns="0" bIns="0" anchor="t" rtlCol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Inter"/>
              </a:rPr>
              <a:t>The network ran at 99.3% uptime across 41 sites</a:t>
            </a:r>
            <a:endParaRPr lang="en-US" sz="3300" b="1" i="0" kern="0" dirty="0" spc="-50">
              <a:solidFill>
                <a:schemeClr val="dk1"/>
              </a:solidFill>
              <a:latin typeface="+mj-lt"/>
              <a:cs typeface="Inter"/>
            </a:endParaRPr>
          </a:p>
        </p:txBody>
      </p:sp>
      <p:sp>
        <p:nvSpPr>
          <p:cNvPr id="3" name="Stat uptime"/>
          <p:cNvSpPr txBox="1"/>
          <p:nvPr/>
        </p:nvSpPr>
        <p:spPr>
          <a:xfrm>
            <a:off x="571500" y="2590800"/>
            <a:ext cx="3352800" cy="914400"/>
          </a:xfrm>
          <a:prstGeom prst="rect">
            <a:avLst/>
          </a:prstGeom>
          <a:noFill/>
        </p:spPr>
        <p:txBody>
          <a:bodyPr wrap="none" lIns="0" tIns="95250" rIns="0" bIns="0" anchor="t" rtlCol="0">
            <a:noAutofit/>
          </a:bodyPr>
          <a:lstStyle/>
          <a:p>
            <a:pPr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kern="0" dirty="0" spc="-216">
                <a:solidFill>
                  <a:schemeClr val="accent1"/>
                </a:solidFill>
                <a:latin typeface="Inter ExtraBold"/>
                <a:cs typeface="Inter ExtraBold"/>
              </a:rPr>
              <a:t>99.3%</a:t>
            </a:r>
            <a:endParaRPr lang="en-US" sz="7200" b="0" i="0" kern="0" dirty="0" spc="-216">
              <a:solidFill>
                <a:schemeClr val="accent1"/>
              </a:solidFill>
              <a:latin typeface="Inter ExtraBold"/>
              <a:cs typeface="Inter ExtraBold"/>
            </a:endParaRPr>
          </a:p>
        </p:txBody>
      </p:sp>
      <p:sp>
        <p:nvSpPr>
          <p:cNvPr id="4" name="Stat uptime label"/>
          <p:cNvSpPr txBox="1"/>
          <p:nvPr/>
        </p:nvSpPr>
        <p:spPr>
          <a:xfrm>
            <a:off x="609600" y="3648075"/>
            <a:ext cx="3352800" cy="3143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dk1"/>
                </a:solidFill>
                <a:latin typeface="+mj-lt"/>
                <a:cs typeface="Inter"/>
              </a:rPr>
              <a:t>uptime</a:t>
            </a:r>
            <a:endParaRPr lang="en-US" sz="1650" b="0" i="0" kern="0" dirty="0">
              <a:solidFill>
                <a:schemeClr val="dk1"/>
              </a:solidFill>
              <a:latin typeface="+mj-lt"/>
              <a:cs typeface="Inter"/>
            </a:endParaRPr>
          </a:p>
        </p:txBody>
      </p:sp>
      <p:sp>
        <p:nvSpPr>
          <p:cNvPr id="5" name="Stat sites"/>
          <p:cNvSpPr txBox="1"/>
          <p:nvPr/>
        </p:nvSpPr>
        <p:spPr>
          <a:xfrm>
            <a:off x="4229100" y="2590800"/>
            <a:ext cx="3352800" cy="914400"/>
          </a:xfrm>
          <a:prstGeom prst="rect">
            <a:avLst/>
          </a:prstGeom>
          <a:noFill/>
        </p:spPr>
        <p:txBody>
          <a:bodyPr wrap="none" lIns="0" tIns="95250" rIns="0" bIns="0" anchor="t" rtlCol="0">
            <a:noAutofit/>
          </a:bodyPr>
          <a:lstStyle/>
          <a:p>
            <a:pPr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kern="0" dirty="0" spc="-216">
                <a:solidFill>
                  <a:schemeClr val="accent1"/>
                </a:solidFill>
                <a:latin typeface="Inter ExtraBold"/>
                <a:cs typeface="Inter ExtraBold"/>
              </a:rPr>
              <a:t>41</a:t>
            </a:r>
            <a:endParaRPr lang="en-US" sz="7200" b="0" i="0" kern="0" dirty="0" spc="-216">
              <a:solidFill>
                <a:schemeClr val="accent1"/>
              </a:solidFill>
              <a:latin typeface="Inter ExtraBold"/>
              <a:cs typeface="Inter ExtraBold"/>
            </a:endParaRPr>
          </a:p>
        </p:txBody>
      </p:sp>
      <p:sp>
        <p:nvSpPr>
          <p:cNvPr id="6" name="Stat sites label"/>
          <p:cNvSpPr txBox="1"/>
          <p:nvPr/>
        </p:nvSpPr>
        <p:spPr>
          <a:xfrm>
            <a:off x="4267200" y="3648075"/>
            <a:ext cx="3352800" cy="3143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dk1"/>
                </a:solidFill>
                <a:latin typeface="+mj-lt"/>
                <a:cs typeface="Inter"/>
              </a:rPr>
              <a:t>sites live</a:t>
            </a:r>
            <a:endParaRPr lang="en-US" sz="1650" b="0" i="0" kern="0" dirty="0">
              <a:solidFill>
                <a:schemeClr val="dk1"/>
              </a:solidFill>
              <a:latin typeface="+mj-lt"/>
              <a:cs typeface="Inter"/>
            </a:endParaRPr>
          </a:p>
        </p:txBody>
      </p:sp>
      <p:sp>
        <p:nvSpPr>
          <p:cNvPr id="7" name="Stat repair"/>
          <p:cNvSpPr txBox="1"/>
          <p:nvPr/>
        </p:nvSpPr>
        <p:spPr>
          <a:xfrm>
            <a:off x="7886700" y="2590800"/>
            <a:ext cx="3352800" cy="914400"/>
          </a:xfrm>
          <a:prstGeom prst="rect">
            <a:avLst/>
          </a:prstGeom>
          <a:noFill/>
        </p:spPr>
        <p:txBody>
          <a:bodyPr wrap="none" lIns="0" tIns="95250" rIns="0" bIns="0" anchor="t" rtlCol="0">
            <a:noAutofit/>
          </a:bodyPr>
          <a:lstStyle/>
          <a:p>
            <a:pPr algn="l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kern="0" dirty="0" spc="-216">
                <a:solidFill>
                  <a:schemeClr val="accent1"/>
                </a:solidFill>
                <a:latin typeface="Inter ExtraBold"/>
                <a:cs typeface="Inter ExtraBold"/>
              </a:rPr>
              <a:t>6 h</a:t>
            </a:r>
            <a:endParaRPr lang="en-US" sz="7200" b="0" i="0" kern="0" dirty="0" spc="-216">
              <a:solidFill>
                <a:schemeClr val="accent1"/>
              </a:solidFill>
              <a:latin typeface="Inter ExtraBold"/>
              <a:cs typeface="Inter ExtraBold"/>
            </a:endParaRPr>
          </a:p>
        </p:txBody>
      </p:sp>
      <p:sp>
        <p:nvSpPr>
          <p:cNvPr id="8" name="Stat repair label"/>
          <p:cNvSpPr txBox="1"/>
          <p:nvPr/>
        </p:nvSpPr>
        <p:spPr>
          <a:xfrm>
            <a:off x="7924800" y="3648075"/>
            <a:ext cx="3352800" cy="3143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kern="0" dirty="0">
                <a:solidFill>
                  <a:schemeClr val="dk1"/>
                </a:solidFill>
                <a:latin typeface="+mj-lt"/>
                <a:cs typeface="Inter"/>
              </a:rPr>
              <a:t>median repair time</a:t>
            </a:r>
            <a:endParaRPr lang="en-US" sz="1650" b="0" i="0" kern="0" dirty="0">
              <a:solidFill>
                <a:schemeClr val="dk1"/>
              </a:solidFill>
              <a:latin typeface="+mj-lt"/>
              <a:cs typeface="Inter"/>
            </a:endParaRPr>
          </a:p>
        </p:txBody>
      </p:sp>
      <p:sp>
        <p:nvSpPr>
          <p:cNvPr id="9" name="Brand name"/>
          <p:cNvSpPr txBox="1"/>
          <p:nvPr/>
        </p:nvSpPr>
        <p:spPr>
          <a:xfrm>
            <a:off x="609600" y="6086475"/>
            <a:ext cx="3810000" cy="2381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kern="0" dirty="0" spc="14">
                <a:solidFill>
                  <a:schemeClr val="accent1"/>
                </a:solidFill>
                <a:latin typeface="+mj-lt"/>
                <a:cs typeface="Inter"/>
              </a:rPr>
              <a:t>Northstar Demo</a:t>
            </a:r>
            <a:endParaRPr lang="en-US" sz="1350" b="1" i="0" kern="0" dirty="0" spc="14">
              <a:solidFill>
                <a:schemeClr val="accent1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1066800"/>
            <a:ext cx="8572500" cy="495300"/>
          </a:xfrm>
          <a:prstGeom prst="rect">
            <a:avLst/>
          </a:prstGeom>
          <a:noFill/>
        </p:spPr>
        <p:txBody>
          <a:bodyPr wrap="none" lIns="0" tIns="28575" rIns="0" bIns="0" anchor="t" rtlCol="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kern="0" dirty="0" spc="-50">
                <a:solidFill>
                  <a:schemeClr val="dk1"/>
                </a:solidFill>
                <a:latin typeface="+mj-lt"/>
                <a:cs typeface="Inter"/>
              </a:rPr>
              <a:t>North carries 17 of the 41 sites</a:t>
            </a:r>
            <a:endParaRPr lang="en-US" sz="3300" b="1" i="0" kern="0" dirty="0" spc="-50">
              <a:solidFill>
                <a:schemeClr val="dk1"/>
              </a:solidFill>
              <a:latin typeface="+mj-lt"/>
              <a:cs typeface="Inter"/>
            </a:endParaRPr>
          </a:p>
        </p:txBody>
      </p:sp>
      <p:graphicFrame>
        <p:nvGraphicFramePr>
          <p:cNvPr id="3" name="Table – sites by region"/>
          <p:cNvGraphicFramePr>
            <a:graphicFrameLocks noGrp="1"/>
          </p:cNvGraphicFramePr>
          <p:nvPr/>
        </p:nvGraphicFramePr>
        <p:xfrm>
          <a:off x="609600" y="2057400"/>
          <a:ext cx="6096000" cy="282892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581972"/>
                <a:gridCol w="2514028"/>
              </a:tblGrid>
              <a:tr h="352425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kern="0" dirty="0">
                          <a:solidFill>
                            <a:srgbClr val="697183"/>
                          </a:solidFill>
                          <a:latin typeface="Inter SemiBold"/>
                          <a:cs typeface="Inter SemiBold"/>
                        </a:rPr>
                        <a:t>Region</a:t>
                      </a:r>
                      <a:endParaRPr lang="en-US" sz="1350" b="0" i="0" kern="0" dirty="0">
                        <a:solidFill>
                          <a:srgbClr val="697183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0" marB="133350" anchor="ctr">
                    <a:lnB w="19050">
                      <a:solidFill>
                        <a:schemeClr val="dk1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kern="0" dirty="0">
                          <a:solidFill>
                            <a:srgbClr val="697183"/>
                          </a:solidFill>
                          <a:latin typeface="Inter SemiBold"/>
                          <a:cs typeface="Inter SemiBold"/>
                        </a:rPr>
                        <a:t>Sites</a:t>
                      </a:r>
                      <a:endParaRPr lang="en-US" sz="1350" b="0" i="0" kern="0" dirty="0">
                        <a:solidFill>
                          <a:srgbClr val="697183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0" marB="133350" anchor="ctr">
                    <a:lnB w="19050">
                      <a:solidFill>
                        <a:schemeClr val="dk1"/>
                      </a:solidFill>
                    </a:lnB>
                    <a:noFill/>
                  </a:tcPr>
                </a:tc>
              </a:tr>
              <a:tr h="623888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Inter SemiBold"/>
                          <a:cs typeface="Inter SemiBold"/>
                        </a:rPr>
                        <a:t>North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152400" marB="161925" anchor="ctr">
                    <a:lnB w="9525">
                      <a:solidFill>
                        <a:srgbClr val="D9DBE0"/>
                      </a:solidFill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Inter SemiBold"/>
                          <a:cs typeface="Inter SemiBold"/>
                        </a:rPr>
                        <a:t>17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152400" marB="161925" anchor="ctr">
                    <a:lnB w="9525">
                      <a:solidFill>
                        <a:srgbClr val="D9DBE0"/>
                      </a:solidFill>
                    </a:lnB>
                    <a:solidFill>
                      <a:schemeClr val="lt2"/>
                    </a:solidFill>
                  </a:tcPr>
                </a:tc>
              </a:tr>
              <a:tr h="619125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+mj-lt"/>
                          <a:cs typeface="Inter"/>
                        </a:rPr>
                        <a:t>Central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+mj-lt"/>
                        <a:cs typeface="Inter"/>
                      </a:endParaRPr>
                    </a:p>
                  </a:txBody>
                  <a:tcPr marL="152400" marR="152400" marT="147638" marB="161925" anchor="ctr">
                    <a:lnB w="9525">
                      <a:solidFill>
                        <a:srgbClr val="D9DBE0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+mj-lt"/>
                          <a:cs typeface="Inter"/>
                        </a:rPr>
                        <a:t>14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+mj-lt"/>
                        <a:cs typeface="Inter"/>
                      </a:endParaRPr>
                    </a:p>
                  </a:txBody>
                  <a:tcPr marL="152400" marR="152400" marT="147638" marB="161925" anchor="ctr">
                    <a:lnB w="9525">
                      <a:solidFill>
                        <a:srgbClr val="D9DBE0"/>
                      </a:solidFill>
                    </a:lnB>
                    <a:noFill/>
                  </a:tcPr>
                </a:tc>
              </a:tr>
              <a:tr h="619125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+mj-lt"/>
                          <a:cs typeface="Inter"/>
                        </a:rPr>
                        <a:t>South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+mj-lt"/>
                        <a:cs typeface="Inter"/>
                      </a:endParaRPr>
                    </a:p>
                  </a:txBody>
                  <a:tcPr marL="152400" marR="152400" marT="147638" marB="161925" anchor="ctr">
                    <a:lnB w="9525">
                      <a:solidFill>
                        <a:srgbClr val="D9DBE0"/>
                      </a:solidFill>
                    </a:lnB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+mj-lt"/>
                          <a:cs typeface="Inter"/>
                        </a:rPr>
                        <a:t>10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+mj-lt"/>
                        <a:cs typeface="Inter"/>
                      </a:endParaRPr>
                    </a:p>
                  </a:txBody>
                  <a:tcPr marL="152400" marR="152400" marT="147638" marB="161925" anchor="ctr">
                    <a:lnB w="9525">
                      <a:solidFill>
                        <a:srgbClr val="D9DBE0"/>
                      </a:solidFill>
                    </a:lnB>
                    <a:noFill/>
                  </a:tcPr>
                </a:tc>
              </a:tr>
              <a:tr h="614362"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l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Inter SemiBold"/>
                          <a:cs typeface="Inter SemiBold"/>
                        </a:rPr>
                        <a:t>Total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147638" marB="152400" anchor="ctr">
                    <a:noFill/>
                  </a:tcPr>
                </a:tc>
                <a:tc>
                  <a:txBody>
                    <a:bodyPr wrap="square" lIns="0" tIns="0" rIns="0" bIns="0" anchor="t" rtlCol="0">
                      <a:noAutofit/>
                    </a:bodyPr>
                    <a:lstStyle/>
                    <a:p>
                      <a:pPr algn="r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kern="0" dirty="0">
                          <a:solidFill>
                            <a:schemeClr val="dk1"/>
                          </a:solidFill>
                          <a:latin typeface="Inter SemiBold"/>
                          <a:cs typeface="Inter SemiBold"/>
                        </a:rPr>
                        <a:t>41</a:t>
                      </a:r>
                      <a:endParaRPr lang="en-US" sz="1650" b="0" i="0" kern="0" dirty="0">
                        <a:solidFill>
                          <a:schemeClr val="dk1"/>
                        </a:solidFill>
                        <a:latin typeface="Inter SemiBold"/>
                        <a:cs typeface="Inter SemiBold"/>
                      </a:endParaRPr>
                    </a:p>
                  </a:txBody>
                  <a:tcPr marL="152400" marR="152400" marT="147638" marB="152400" anchor="ctr">
                    <a:noFill/>
                  </a:tcPr>
                </a:tc>
              </a:tr>
            </a:tbl>
          </a:graphicData>
        </a:graphic>
      </p:graphicFrame>
      <p:sp>
        <p:nvSpPr>
          <p:cNvPr id="4" name="Brand name"/>
          <p:cNvSpPr txBox="1"/>
          <p:nvPr/>
        </p:nvSpPr>
        <p:spPr>
          <a:xfrm>
            <a:off x="609600" y="6086475"/>
            <a:ext cx="3810000" cy="2381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kern="0" dirty="0" spc="14">
                <a:solidFill>
                  <a:schemeClr val="accent1"/>
                </a:solidFill>
                <a:latin typeface="+mj-lt"/>
                <a:cs typeface="Inter"/>
              </a:rPr>
              <a:t>Northstar Demo</a:t>
            </a:r>
            <a:endParaRPr lang="en-US" sz="1350" b="1" i="0" kern="0" dirty="0" spc="14">
              <a:solidFill>
                <a:schemeClr val="accent1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609600" y="1066800"/>
            <a:ext cx="6324600" cy="1219200"/>
          </a:xfrm>
          <a:prstGeom prst="rect">
            <a:avLst/>
          </a:prstGeom>
          <a:noFill/>
        </p:spPr>
        <p:txBody>
          <a:bodyPr wrap="square" lIns="0" tIns="38100" rIns="0" bIns="0" anchor="t" rtlCol="0">
            <a:no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  <a:t>Next: 20 more sites</a:t>
            </a:r>
            <a:b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</a:br>
            <a:r>
              <a:rPr lang="en-US" sz="4200" b="0" i="0" kern="0" dirty="0" spc="-84">
                <a:solidFill>
                  <a:schemeClr val="dk1"/>
                </a:solidFill>
                <a:latin typeface="Inter ExtraBold"/>
                <a:cs typeface="Inter ExtraBold"/>
              </a:rPr>
              <a:t>by Q1</a:t>
            </a:r>
            <a:endParaRPr lang="en-US" sz="4200" b="0" i="0" kern="0" dirty="0" spc="-84">
              <a:solidFill>
                <a:schemeClr val="dk1"/>
              </a:solidFill>
              <a:latin typeface="Inter ExtraBold"/>
              <a:cs typeface="Inter ExtraBold"/>
            </a:endParaRPr>
          </a:p>
        </p:txBody>
      </p:sp>
      <p:grpSp>
        <p:nvGrpSpPr>
          <p:cNvPr id="3" name="Card stack"/>
          <p:cNvGrpSpPr/>
          <p:nvPr/>
        </p:nvGrpSpPr>
        <p:grpSpPr>
          <a:xfrm>
            <a:off x="7781925" y="1914525"/>
            <a:ext cx="3495675" cy="2352675"/>
            <a:chOff x="7781925" y="1914525"/>
            <a:chExt cx="3495675" cy="2352675"/>
          </a:xfrm>
        </p:grpSpPr>
        <p:sp>
          <p:nvSpPr>
            <p:cNvPr id="4" name="Card back"/>
            <p:cNvSpPr/>
            <p:nvPr/>
          </p:nvSpPr>
          <p:spPr>
            <a:xfrm>
              <a:off x="8229600" y="2362200"/>
              <a:ext cx="3048000" cy="1905000"/>
            </a:xfrm>
            <a:prstGeom prst="roundRect">
              <a:avLst>
                <a:gd name="adj" fmla="val 12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Card middle"/>
            <p:cNvSpPr/>
            <p:nvPr/>
          </p:nvSpPr>
          <p:spPr>
            <a:xfrm>
              <a:off x="8001000" y="2133600"/>
              <a:ext cx="3048000" cy="19050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Card top"/>
            <p:cNvSpPr/>
            <p:nvPr/>
          </p:nvSpPr>
          <p:spPr>
            <a:xfrm>
              <a:off x="7781925" y="1914525"/>
              <a:ext cx="3028950" cy="1885950"/>
            </a:xfrm>
            <a:prstGeom prst="roundRect">
              <a:avLst>
                <a:gd name="adj" fmla="val 11616"/>
              </a:avLst>
            </a:prstGeom>
            <a:solidFill>
              <a:schemeClr val="lt1"/>
            </a:solidFill>
            <a:ln w="19050">
              <a:solidFill>
                <a:schemeClr val="dk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Card number"/>
            <p:cNvSpPr txBox="1"/>
            <p:nvPr/>
          </p:nvSpPr>
          <p:spPr>
            <a:xfrm>
              <a:off x="8077200" y="2209800"/>
              <a:ext cx="2438400" cy="609600"/>
            </a:xfrm>
            <a:prstGeom prst="rect">
              <a:avLst/>
            </a:prstGeom>
            <a:noFill/>
          </p:spPr>
          <p:txBody>
            <a:bodyPr wrap="none" lIns="0" tIns="38100" rIns="0" bIns="0" anchor="t" rtlCol="0">
              <a:noAutofit/>
            </a:bodyPr>
            <a:lstStyle/>
            <a:p>
              <a:pPr algn="l">
                <a:lnSpc>
                  <a:spcPts val="48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200" b="0" i="0" kern="0" dirty="0" spc="-84">
                  <a:solidFill>
                    <a:schemeClr val="accent1"/>
                  </a:solidFill>
                  <a:latin typeface="Inter ExtraBold"/>
                  <a:cs typeface="Inter ExtraBold"/>
                </a:rPr>
                <a:t>20 sites</a:t>
              </a:r>
              <a:endParaRPr lang="en-US" sz="4200" b="0" i="0" kern="0" dirty="0" spc="-84">
                <a:solidFill>
                  <a:schemeClr val="accent1"/>
                </a:solidFill>
                <a:latin typeface="Inter ExtraBold"/>
                <a:cs typeface="Inter ExtraBold"/>
              </a:endParaRPr>
            </a:p>
          </p:txBody>
        </p:sp>
        <p:sp>
          <p:nvSpPr>
            <p:cNvPr id="8" name="Card label"/>
            <p:cNvSpPr txBox="1"/>
            <p:nvPr/>
          </p:nvSpPr>
          <p:spPr>
            <a:xfrm>
              <a:off x="8077200" y="2962275"/>
              <a:ext cx="2438400" cy="3143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kern="0" dirty="0">
                  <a:solidFill>
                    <a:schemeClr val="dk1"/>
                  </a:solidFill>
                  <a:latin typeface="+mj-lt"/>
                  <a:cs typeface="Inter"/>
                </a:rPr>
                <a:t>planned by Q1</a:t>
              </a:r>
              <a:endParaRPr lang="en-US" sz="1650" b="0" i="0" kern="0" dirty="0">
                <a:solidFill>
                  <a:schemeClr val="dk1"/>
                </a:solidFill>
                <a:latin typeface="+mj-lt"/>
                <a:cs typeface="Inter"/>
              </a:endParaRPr>
            </a:p>
          </p:txBody>
        </p:sp>
      </p:grpSp>
      <p:grpSp>
        <p:nvGrpSpPr>
          <p:cNvPr id="9" name="Timeline"/>
          <p:cNvGrpSpPr/>
          <p:nvPr/>
        </p:nvGrpSpPr>
        <p:grpSpPr>
          <a:xfrm>
            <a:off x="609600" y="4962525"/>
            <a:ext cx="10972800" cy="600075"/>
            <a:chOff x="609600" y="4962525"/>
            <a:chExt cx="10972800" cy="600075"/>
          </a:xfrm>
        </p:grpSpPr>
        <p:sp>
          <p:nvSpPr>
            <p:cNvPr id="10" name="Timeline rule"/>
            <p:cNvSpPr/>
            <p:nvPr/>
          </p:nvSpPr>
          <p:spPr>
            <a:xfrm>
              <a:off x="609600" y="5029200"/>
              <a:ext cx="10972800" cy="190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ot Oct"/>
            <p:cNvSpPr/>
            <p:nvPr/>
          </p:nvSpPr>
          <p:spPr>
            <a:xfrm>
              <a:off x="609600" y="4962525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ot Nov"/>
            <p:cNvSpPr/>
            <p:nvPr/>
          </p:nvSpPr>
          <p:spPr>
            <a:xfrm>
              <a:off x="4267200" y="4962525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ot Dec"/>
            <p:cNvSpPr/>
            <p:nvPr/>
          </p:nvSpPr>
          <p:spPr>
            <a:xfrm>
              <a:off x="7924800" y="4962525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Step Oct"/>
            <p:cNvSpPr txBox="1"/>
            <p:nvPr/>
          </p:nvSpPr>
          <p:spPr>
            <a:xfrm>
              <a:off x="609600" y="5248275"/>
              <a:ext cx="3352800" cy="3143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kern="0" dirty="0">
                  <a:solidFill>
                    <a:schemeClr val="dk1"/>
                  </a:solidFill>
                  <a:latin typeface="Inter SemiBold"/>
                  <a:cs typeface="Inter SemiBold"/>
                </a:rPr>
                <a:t>Oct · 6 sites</a:t>
              </a:r>
              <a:endParaRPr lang="en-US" sz="1650" b="0" i="0" kern="0" dirty="0">
                <a:solidFill>
                  <a:schemeClr val="dk1"/>
                </a:solidFill>
                <a:latin typeface="Inter SemiBold"/>
                <a:cs typeface="Inter SemiBold"/>
              </a:endParaRPr>
            </a:p>
          </p:txBody>
        </p:sp>
        <p:sp>
          <p:nvSpPr>
            <p:cNvPr id="15" name="Step Nov"/>
            <p:cNvSpPr txBox="1"/>
            <p:nvPr/>
          </p:nvSpPr>
          <p:spPr>
            <a:xfrm>
              <a:off x="4267200" y="5248275"/>
              <a:ext cx="3352800" cy="3143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kern="0" dirty="0">
                  <a:solidFill>
                    <a:schemeClr val="dk1"/>
                  </a:solidFill>
                  <a:latin typeface="Inter SemiBold"/>
                  <a:cs typeface="Inter SemiBold"/>
                </a:rPr>
                <a:t>Nov · 7 sites</a:t>
              </a:r>
              <a:endParaRPr lang="en-US" sz="1650" b="0" i="0" kern="0" dirty="0">
                <a:solidFill>
                  <a:schemeClr val="dk1"/>
                </a:solidFill>
                <a:latin typeface="Inter SemiBold"/>
                <a:cs typeface="Inter SemiBold"/>
              </a:endParaRPr>
            </a:p>
          </p:txBody>
        </p:sp>
        <p:sp>
          <p:nvSpPr>
            <p:cNvPr id="16" name="Step Dec"/>
            <p:cNvSpPr txBox="1"/>
            <p:nvPr/>
          </p:nvSpPr>
          <p:spPr>
            <a:xfrm>
              <a:off x="7924800" y="5248275"/>
              <a:ext cx="3352800" cy="314325"/>
            </a:xfrm>
            <a:prstGeom prst="rect">
              <a:avLst/>
            </a:prstGeom>
            <a:noFill/>
          </p:spPr>
          <p:txBody>
            <a:bodyPr wrap="none" lIns="0" tIns="0" rIns="0" bIns="0" anchor="t" rtlCol="0">
              <a:noAutofit/>
            </a:bodyPr>
            <a:lstStyle/>
            <a:p>
              <a:pPr algn="l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kern="0" dirty="0">
                  <a:solidFill>
                    <a:schemeClr val="dk1"/>
                  </a:solidFill>
                  <a:latin typeface="Inter SemiBold"/>
                  <a:cs typeface="Inter SemiBold"/>
                </a:rPr>
                <a:t>Dec · 7 sites</a:t>
              </a:r>
              <a:endParaRPr lang="en-US" sz="1650" b="0" i="0" kern="0" dirty="0">
                <a:solidFill>
                  <a:schemeClr val="dk1"/>
                </a:solidFill>
                <a:latin typeface="Inter SemiBold"/>
                <a:cs typeface="Inter SemiBold"/>
              </a:endParaRPr>
            </a:p>
          </p:txBody>
        </p:sp>
      </p:grpSp>
      <p:sp>
        <p:nvSpPr>
          <p:cNvPr id="17" name="Brand name"/>
          <p:cNvSpPr txBox="1"/>
          <p:nvPr/>
        </p:nvSpPr>
        <p:spPr>
          <a:xfrm>
            <a:off x="609600" y="6086475"/>
            <a:ext cx="3810000" cy="238125"/>
          </a:xfrm>
          <a:prstGeom prst="rect">
            <a:avLst/>
          </a:prstGeom>
          <a:noFill/>
        </p:spPr>
        <p:txBody>
          <a:bodyPr wrap="none" lIns="0" tIns="0" rIns="0" bIns="0" anchor="t" rtlCol="0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kern="0" dirty="0" spc="14">
                <a:solidFill>
                  <a:schemeClr val="accent1"/>
                </a:solidFill>
                <a:latin typeface="+mj-lt"/>
                <a:cs typeface="Inter"/>
              </a:rPr>
              <a:t>Northstar Demo</a:t>
            </a:r>
            <a:endParaRPr lang="en-US" sz="1350" b="1" i="0" kern="0" dirty="0" spc="14">
              <a:solidFill>
                <a:schemeClr val="accent1"/>
              </a:solidFill>
              <a:latin typeface="+mj-lt"/>
              <a:cs typeface="Int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Northstar Demo">
  <a:themeElements>
    <a:clrScheme name="Northstar Demo">
      <a:dk1>
        <a:srgbClr val="14213D"/>
      </a:dk1>
      <a:lt1>
        <a:srgbClr val="FFFFFF"/>
      </a:lt1>
      <a:dk2>
        <a:srgbClr val="2E4BD8"/>
      </a:dk2>
      <a:lt2>
        <a:srgbClr val="EEF0FB"/>
      </a:lt2>
      <a:accent1>
        <a:srgbClr val="2E4BD8"/>
      </a:accent1>
      <a:accent2>
        <a:srgbClr val="F2A541"/>
      </a:accent2>
      <a:accent3>
        <a:srgbClr val="1D2E86"/>
      </a:accent3>
      <a:accent4>
        <a:srgbClr val="8697E8"/>
      </a:accent4>
      <a:accent5>
        <a:srgbClr val="966628"/>
      </a:accent5>
      <a:accent6>
        <a:srgbClr val="F7CB91"/>
      </a:accent6>
      <a:hlink>
        <a:srgbClr val="2E4BD8"/>
      </a:hlink>
      <a:folHlink>
        <a:srgbClr val="F2A541"/>
      </a:folHlink>
    </a:clrScheme>
    <a:fontScheme name="Northstar Demo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2026-10-14T07:44:24Z</dcterms:created>
  <dcterms:modified xsi:type="dcterms:W3CDTF">2026-10-14T07:44:24Z</dcterms:modified>
  <cp:category/>
</cp:coreProperties>
</file>