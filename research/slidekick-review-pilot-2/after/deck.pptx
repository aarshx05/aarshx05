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Readings (thousands)</c:v>
                </c:pt>
              </c:strCache>
            </c:strRef>
          </c:tx>
          <c:spPr>
            <a:solidFill>
              <a:srgbClr val="B9C3F3"/>
            </a:solidFill>
          </c:spPr>
          <c:dPt>
            <c:idx val="2"/>
            <c:spPr>
              <a:solidFill>
                <a:srgbClr val="2E4BD8"/>
              </a:solidFill>
            </c:spPr>
          </c:dPt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#,##0"k"</c:formatCode>
                <c:ptCount val="3"/>
                <c:pt idx="0">
                  <c:v>120</c:v>
                </c:pt>
                <c:pt idx="1">
                  <c:v>190</c:v>
                </c:pt>
                <c:pt idx="2">
                  <c:v>290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sz="1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650">
          <a:solidFill>
            <a:srgbClr val="14213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deck. The company and every number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is the record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numbers, all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Sites by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Six, seven and seven sites take the network from 41 to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name"/>
          <p:cNvSpPr txBox="1"/>
          <p:nvPr/>
        </p:nvSpPr>
        <p:spPr>
          <a:xfrm>
            <a:off x="609600" y="600075"/>
            <a:ext cx="38100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kern="0" dirty="0" spc="16">
                <a:solidFill>
                  <a:schemeClr val="lt1"/>
                </a:solidFill>
                <a:latin typeface="+mj-lt"/>
                <a:cs typeface="Inter"/>
              </a:rPr>
              <a:t>Northstar Demo</a:t>
            </a:r>
            <a:endParaRPr lang="en-US" sz="1650" b="1" i="0" kern="0" dirty="0" spc="16">
              <a:solidFill>
                <a:schemeClr val="lt1"/>
              </a:solidFill>
              <a:latin typeface="+mj-lt"/>
              <a:cs typeface="Inter"/>
            </a:endParaRPr>
          </a:p>
        </p:txBody>
      </p:sp>
      <p:sp>
        <p:nvSpPr>
          <p:cNvPr id="3" name="Accent bar"/>
          <p:cNvSpPr/>
          <p:nvPr/>
        </p:nvSpPr>
        <p:spPr>
          <a:xfrm>
            <a:off x="609600" y="2133600"/>
            <a:ext cx="6096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571500" y="2438400"/>
            <a:ext cx="8572500" cy="914400"/>
          </a:xfrm>
          <a:prstGeom prst="rect">
            <a:avLst/>
          </a:prstGeom>
          <a:noFill/>
        </p:spPr>
        <p:txBody>
          <a:bodyPr wrap="none" lIns="0" tIns="66675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kern="0" dirty="0" spc="-198">
                <a:solidFill>
                  <a:schemeClr val="lt1"/>
                </a:solidFill>
                <a:latin typeface="Inter ExtraBold"/>
                <a:cs typeface="Inter ExtraBold"/>
              </a:rPr>
              <a:t>Q3 field update</a:t>
            </a:r>
            <a:endParaRPr lang="en-US" sz="6600" b="0" i="0" kern="0" dirty="0" spc="-198">
              <a:solidFill>
                <a:schemeClr val="lt1"/>
              </a:solidFill>
              <a:latin typeface="Inter ExtraBold"/>
              <a:cs typeface="Inter ExtraBold"/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609600" y="3581400"/>
            <a:ext cx="7116175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BDC1C9"/>
                </a:solidFill>
                <a:latin typeface="+mj-lt"/>
                <a:cs typeface="Inter"/>
              </a:rPr>
              <a:t>A synthetic deck for a review-regression pilot. Every number in it is fictional.</a:t>
            </a:r>
            <a:endParaRPr lang="en-US" sz="2100" b="0" i="0" kern="0" dirty="0">
              <a:solidFill>
                <a:srgbClr val="BDC1C9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609600" y="2209800"/>
            <a:ext cx="8610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Sensor uptime held above 99%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all quarter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sp>
        <p:nvSpPr>
          <p:cNvPr id="3" name="Support"/>
          <p:cNvSpPr txBox="1"/>
          <p:nvPr/>
        </p:nvSpPr>
        <p:spPr>
          <a:xfrm>
            <a:off x="609600" y="3733800"/>
            <a:ext cx="7239000" cy="381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697183"/>
                </a:solidFill>
                <a:latin typeface="+mj-lt"/>
                <a:cs typeface="Inter"/>
              </a:rPr>
              <a:t>Across all 41 sites, from July to September.</a:t>
            </a:r>
            <a:endParaRPr lang="en-US" sz="2100" b="0" i="0" kern="0" dirty="0">
              <a:solidFill>
                <a:srgbClr val="697183"/>
              </a:solidFill>
              <a:latin typeface="+mj-lt"/>
              <a:cs typeface="Inter"/>
            </a:endParaRPr>
          </a:p>
        </p:txBody>
      </p:sp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8011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Monthly readings grew 2.4× from July to September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Chart – monthly readings"/>
          <p:cNvGraphicFramePr>
            <a:graphicFrameLocks noGrp="1"/>
          </p:cNvGraphicFramePr>
          <p:nvPr/>
        </p:nvGraphicFramePr>
        <p:xfrm>
          <a:off x="609600" y="1981200"/>
          <a:ext cx="73152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Footnote C1"/>
          <p:cNvSpPr txBox="1"/>
          <p:nvPr/>
        </p:nvSpPr>
        <p:spPr>
          <a:xfrm>
            <a:off x="8382000" y="5324475"/>
            <a:ext cx="32004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kern="0" dirty="0">
                <a:solidFill>
                  <a:srgbClr val="697183"/>
                </a:solidFill>
                <a:latin typeface="+mj-lt"/>
                <a:cs typeface="Inter"/>
              </a:rPr>
              <a:t>Source: synthetic dataset v2 (fictional)</a:t>
            </a:r>
            <a:endParaRPr lang="en-US" sz="1350" b="0" i="0" kern="0" dirty="0">
              <a:solidFill>
                <a:srgbClr val="697183"/>
              </a:solidFill>
              <a:latin typeface="+mj-lt"/>
              <a:cs typeface="Inter"/>
            </a:endParaRPr>
          </a:p>
        </p:txBody>
      </p:sp>
      <p:sp>
        <p:nvSpPr>
          <p:cNvPr id="5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3439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The network ran at 99.3% uptime across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3" name="Stat uptime"/>
          <p:cNvSpPr txBox="1"/>
          <p:nvPr/>
        </p:nvSpPr>
        <p:spPr>
          <a:xfrm>
            <a:off x="5715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99.3%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4" name="Stat uptime label"/>
          <p:cNvSpPr txBox="1"/>
          <p:nvPr/>
        </p:nvSpPr>
        <p:spPr>
          <a:xfrm>
            <a:off x="6096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uptime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5" name="Stat sites"/>
          <p:cNvSpPr txBox="1"/>
          <p:nvPr/>
        </p:nvSpPr>
        <p:spPr>
          <a:xfrm>
            <a:off x="42291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41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6" name="Stat sites label"/>
          <p:cNvSpPr txBox="1"/>
          <p:nvPr/>
        </p:nvSpPr>
        <p:spPr>
          <a:xfrm>
            <a:off x="42672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sites live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7" name="Stat repair"/>
          <p:cNvSpPr txBox="1"/>
          <p:nvPr/>
        </p:nvSpPr>
        <p:spPr>
          <a:xfrm>
            <a:off x="78867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6 h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8" name="Stat repair label"/>
          <p:cNvSpPr txBox="1"/>
          <p:nvPr/>
        </p:nvSpPr>
        <p:spPr>
          <a:xfrm>
            <a:off x="79248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median repair 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9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572500" cy="495300"/>
          </a:xfrm>
          <a:prstGeom prst="rect">
            <a:avLst/>
          </a:prstGeom>
          <a:noFill/>
        </p:spPr>
        <p:txBody>
          <a:bodyPr wrap="non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North carries 17 of the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Table – sites by region"/>
          <p:cNvGraphicFramePr>
            <a:graphicFrameLocks noGrp="1"/>
          </p:cNvGraphicFramePr>
          <p:nvPr/>
        </p:nvGraphicFramePr>
        <p:xfrm>
          <a:off x="609600" y="2057400"/>
          <a:ext cx="6096000" cy="28289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581972"/>
                <a:gridCol w="2514028"/>
              </a:tblGrid>
              <a:tr h="3524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Region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Sites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6238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North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17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Central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14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South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10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4362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Total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41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6324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Next: 20 more sites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by Q1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grpSp>
        <p:nvGrpSpPr>
          <p:cNvPr id="3" name="Card stack"/>
          <p:cNvGrpSpPr/>
          <p:nvPr/>
        </p:nvGrpSpPr>
        <p:grpSpPr>
          <a:xfrm>
            <a:off x="7781925" y="1914525"/>
            <a:ext cx="3495675" cy="2352675"/>
            <a:chOff x="7781925" y="1914525"/>
            <a:chExt cx="3495675" cy="2352675"/>
          </a:xfrm>
        </p:grpSpPr>
        <p:sp>
          <p:nvSpPr>
            <p:cNvPr id="4" name="Card back"/>
            <p:cNvSpPr/>
            <p:nvPr/>
          </p:nvSpPr>
          <p:spPr>
            <a:xfrm>
              <a:off x="8229600" y="23622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middle"/>
            <p:cNvSpPr/>
            <p:nvPr/>
          </p:nvSpPr>
          <p:spPr>
            <a:xfrm>
              <a:off x="8001000" y="21336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 top"/>
            <p:cNvSpPr/>
            <p:nvPr/>
          </p:nvSpPr>
          <p:spPr>
            <a:xfrm>
              <a:off x="7781925" y="1914525"/>
              <a:ext cx="3028950" cy="1885950"/>
            </a:xfrm>
            <a:prstGeom prst="roundRect">
              <a:avLst>
                <a:gd name="adj" fmla="val 11616"/>
              </a:avLst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ard number"/>
            <p:cNvSpPr txBox="1"/>
            <p:nvPr/>
          </p:nvSpPr>
          <p:spPr>
            <a:xfrm>
              <a:off x="8077200" y="2209800"/>
              <a:ext cx="2438400" cy="609600"/>
            </a:xfrm>
            <a:prstGeom prst="rect">
              <a:avLst/>
            </a:prstGeom>
            <a:noFill/>
          </p:spPr>
          <p:txBody>
            <a:bodyPr wrap="none" lIns="0" tIns="38100" rIns="0" bIns="0" anchor="t" rtlCol="0">
              <a:noAutofit/>
            </a:bodyPr>
            <a:lstStyle/>
            <a:p>
              <a:pPr algn="l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kern="0" dirty="0" spc="-84">
                  <a:solidFill>
                    <a:schemeClr val="accent1"/>
                  </a:solidFill>
                  <a:latin typeface="Inter ExtraBold"/>
                  <a:cs typeface="Inter ExtraBold"/>
                </a:rPr>
                <a:t>20 sites</a:t>
              </a:r>
              <a:endParaRPr lang="en-US" sz="4200" b="0" i="0" kern="0" dirty="0" spc="-84">
                <a:solidFill>
                  <a:schemeClr val="accent1"/>
                </a:solidFill>
                <a:latin typeface="Inter ExtraBold"/>
                <a:cs typeface="Inter ExtraBold"/>
              </a:endParaRPr>
            </a:p>
          </p:txBody>
        </p:sp>
        <p:sp>
          <p:nvSpPr>
            <p:cNvPr id="8" name="Card label"/>
            <p:cNvSpPr txBox="1"/>
            <p:nvPr/>
          </p:nvSpPr>
          <p:spPr>
            <a:xfrm>
              <a:off x="8077200" y="2962275"/>
              <a:ext cx="24384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+mj-lt"/>
                  <a:cs typeface="Inter"/>
                </a:rPr>
                <a:t>planned by Q1</a:t>
              </a:r>
              <a:endParaRPr lang="en-US" sz="1650" b="0" i="0" kern="0" dirty="0">
                <a:solidFill>
                  <a:schemeClr val="dk1"/>
                </a:solidFill>
                <a:latin typeface="+mj-lt"/>
                <a:cs typeface="Inter"/>
              </a:endParaRPr>
            </a:p>
          </p:txBody>
        </p:sp>
      </p:grpSp>
      <p:grpSp>
        <p:nvGrpSpPr>
          <p:cNvPr id="9" name="Timeline"/>
          <p:cNvGrpSpPr/>
          <p:nvPr/>
        </p:nvGrpSpPr>
        <p:grpSpPr>
          <a:xfrm>
            <a:off x="609600" y="4962525"/>
            <a:ext cx="10972800" cy="600075"/>
            <a:chOff x="609600" y="4962525"/>
            <a:chExt cx="10972800" cy="600075"/>
          </a:xfrm>
        </p:grpSpPr>
        <p:sp>
          <p:nvSpPr>
            <p:cNvPr id="10" name="Timeline rule"/>
            <p:cNvSpPr/>
            <p:nvPr/>
          </p:nvSpPr>
          <p:spPr>
            <a:xfrm>
              <a:off x="609600" y="5029200"/>
              <a:ext cx="10972800" cy="190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 Oct"/>
            <p:cNvSpPr/>
            <p:nvPr/>
          </p:nvSpPr>
          <p:spPr>
            <a:xfrm>
              <a:off x="6096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 Nov"/>
            <p:cNvSpPr/>
            <p:nvPr/>
          </p:nvSpPr>
          <p:spPr>
            <a:xfrm>
              <a:off x="42672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 Dec"/>
            <p:cNvSpPr/>
            <p:nvPr/>
          </p:nvSpPr>
          <p:spPr>
            <a:xfrm>
              <a:off x="79248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tep Oct"/>
            <p:cNvSpPr txBox="1"/>
            <p:nvPr/>
          </p:nvSpPr>
          <p:spPr>
            <a:xfrm>
              <a:off x="6096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Oct · 6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5" name="Step Nov"/>
            <p:cNvSpPr txBox="1"/>
            <p:nvPr/>
          </p:nvSpPr>
          <p:spPr>
            <a:xfrm>
              <a:off x="42672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Nov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6" name="Step Dec"/>
            <p:cNvSpPr txBox="1"/>
            <p:nvPr/>
          </p:nvSpPr>
          <p:spPr>
            <a:xfrm>
              <a:off x="79248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Dec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</p:grpSp>
      <p:sp>
        <p:nvSpPr>
          <p:cNvPr id="17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orthstar Demo">
  <a:themeElements>
    <a:clrScheme name="Northstar Demo">
      <a:dk1>
        <a:srgbClr val="14213D"/>
      </a:dk1>
      <a:lt1>
        <a:srgbClr val="FFFFFF"/>
      </a:lt1>
      <a:dk2>
        <a:srgbClr val="2E4BD8"/>
      </a:dk2>
      <a:lt2>
        <a:srgbClr val="EEF0FB"/>
      </a:lt2>
      <a:accent1>
        <a:srgbClr val="2E4BD8"/>
      </a:accent1>
      <a:accent2>
        <a:srgbClr val="F2A541"/>
      </a:accent2>
      <a:accent3>
        <a:srgbClr val="1D2E86"/>
      </a:accent3>
      <a:accent4>
        <a:srgbClr val="8697E8"/>
      </a:accent4>
      <a:accent5>
        <a:srgbClr val="966628"/>
      </a:accent5>
      <a:accent6>
        <a:srgbClr val="F7CB91"/>
      </a:accent6>
      <a:hlink>
        <a:srgbClr val="2E4BD8"/>
      </a:hlink>
      <a:folHlink>
        <a:srgbClr val="F2A541"/>
      </a:folHlink>
    </a:clrScheme>
    <a:fontScheme name="Northstar Demo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2026-10-14T07:59:17Z</dcterms:created>
  <dcterms:modified xsi:type="dcterms:W3CDTF">2026-10-14T07:59:17Z</dcterms:modified>
  <cp:category/>
</cp:coreProperties>
</file>